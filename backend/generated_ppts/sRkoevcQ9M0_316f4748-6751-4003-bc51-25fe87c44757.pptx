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8288000" cy="10287000"/>
  <p:notesSz cx="6858000" cy="9144000"/>
  <p:embeddedFontLst>
    <p:embeddedFont>
      <p:font typeface="Bobby Jones" panose="020B0604020202020204" charset="0"/>
      <p:regular r:id="rId2"/>
    </p:embeddedFont>
    <p:embeddedFont>
      <p:font typeface="Gotham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8E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0690" autoAdjust="0"/>
    <p:restoredTop sz="94622" autoAdjust="0"/>
  </p:normalViewPr>
  <p:slideViewPr>
    <p:cSldViewPr>
      <p:cViewPr varScale="1">
        <p:scale>
          <a:sx n="51" d="100"/>
          <a:sy n="51" d="100"/>
        </p:scale>
        <p:origin x="67" y="4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font" Target="fonts/font1.fntdata"/><Relationship Id="rId3" Type="http://schemas.openxmlformats.org/officeDocument/2006/relationships/font" Target="fonts/font2.fntdata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2476500"/>
            <a:ext cx="9906000" cy="2232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5448300"/>
            <a:ext cx="9906000" cy="2743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Yt</a:t>
            </a:r>
            <a:r>
              <a:rPr lang="en-US" dirty="0"/>
              <a:t> Notes Studios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4686300"/>
            <a:ext cx="10972800" cy="3986213"/>
          </a:xfrm>
        </p:spPr>
        <p:txBody>
          <a:bodyPr anchor="t">
            <a:normAutofit/>
          </a:bodyPr>
          <a:lstStyle>
            <a:lvl1pPr algn="ctr">
              <a:defRPr sz="8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2400" y="1400175"/>
            <a:ext cx="10363200" cy="2743200"/>
          </a:xfrm>
        </p:spPr>
        <p:txBody>
          <a:bodyPr anchor="b">
            <a:normAutofit/>
          </a:bodyPr>
          <a:lstStyle>
            <a:lvl1pPr marL="0" indent="0" algn="ctr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Yt</a:t>
            </a:r>
            <a:r>
              <a:rPr lang="en-US" dirty="0"/>
              <a:t> Notes Studios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AB28-F868-EF8F-B440-DC8F9524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82019F-32FF-C611-73CF-92F1991D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D8BD707-D9CF-40AE-B4C6-C98DA3205C09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95BBE-1005-4905-C7C5-EA9ACF953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Yt Notes Studios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4927F-EA62-1932-4D2A-0CE9A83D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FC1245-D77D-B64C-E715-C8977ABAD3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51344" y="4152900"/>
            <a:ext cx="14765055" cy="487680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78757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58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683217-678E-2129-B176-6E44D2F94624}"/>
              </a:ext>
            </a:extLst>
          </p:cNvPr>
          <p:cNvSpPr/>
          <p:nvPr userDrawn="1"/>
        </p:nvSpPr>
        <p:spPr>
          <a:xfrm>
            <a:off x="701040" y="716598"/>
            <a:ext cx="16885920" cy="8782525"/>
          </a:xfrm>
          <a:prstGeom prst="roundRect">
            <a:avLst>
              <a:gd name="adj" fmla="val 3855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3600" y="723900"/>
            <a:ext cx="14782800" cy="3276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154400" y="2381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fld id="{1D8BD707-D9CF-40AE-B4C6-C98DA3205C09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989139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err="1"/>
              <a:t>Yt</a:t>
            </a:r>
            <a:r>
              <a:rPr lang="en-US" dirty="0"/>
              <a:t> Notes Studios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23920" y="989139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E503042-7153-22A7-F0BB-B75A481FB7AE}"/>
              </a:ext>
            </a:extLst>
          </p:cNvPr>
          <p:cNvSpPr/>
          <p:nvPr userDrawn="1"/>
        </p:nvSpPr>
        <p:spPr>
          <a:xfrm>
            <a:off x="-24063" y="7429500"/>
            <a:ext cx="4138863" cy="3124200"/>
          </a:xfrm>
          <a:custGeom>
            <a:avLst/>
            <a:gdLst/>
            <a:ahLst/>
            <a:cxnLst/>
            <a:rect l="l" t="t" r="r" b="b"/>
            <a:pathLst>
              <a:path w="5414211" h="4114800">
                <a:moveTo>
                  <a:pt x="0" y="0"/>
                </a:moveTo>
                <a:lnTo>
                  <a:pt x="5414211" y="0"/>
                </a:lnTo>
                <a:lnTo>
                  <a:pt x="54142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4305300"/>
            <a:ext cx="147828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9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Deconstructing Prashanth Neel's Filmmaking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Deep Dive into Narrative, World Building, and Characterization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 Narratives: Story Within A Story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Beyond Linear &amp; Non-Linear Structures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Prashanth Neel's Distinct Narrative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Utilizes 'Frame Narrative' – a unique 'story within a story' structure.</a:t>
            </a:r>
          </a:p>
          <a:p>
            <a:pPr>
              <a:defRPr sz="2000"/>
            </a:pPr>
            <a:r>
              <a:t>Unlike linear/non-linear, he presents interwoven tales (e.g., KGF: Anand Ingale's vs. Rocky Bhai's).</a:t>
            </a:r>
          </a:p>
          <a:p>
            <a:pPr>
              <a:defRPr sz="2000"/>
            </a:pPr>
            <a:r>
              <a:t>Comparable to Rajkumar Hirani's '3 Idiots' flashback technique.</a:t>
            </a:r>
          </a:p>
          <a:p>
            <a:pPr>
              <a:defRPr sz="2000"/>
            </a:pPr>
            <a:r>
              <a:t>'Salaar' features two distinct character narratives (2017 &amp; 2010), not a single-character flashback like 'Ghajini'.</a:t>
            </a:r>
          </a:p>
          <a:p>
            <a:pPr>
              <a:defRPr sz="2000"/>
            </a:pPr>
            <a:r>
              <a:t>Note: Narrative improvisation was required in KGF 2 due to actor unavailability.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World Building: Crafting Believable Worlds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Making the Unreal Feel Real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Art of Constructing Immersive Worlds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Prashanth Neel excels at building immersive and believable fictional worlds.</a:t>
            </a:r>
          </a:p>
          <a:p>
            <a:pPr>
              <a:defRPr sz="2000"/>
            </a:pPr>
            <a:r>
              <a:t>Primary tool: The Narrator, used to explain complex, long histories in a concise manner.</a:t>
            </a:r>
          </a:p>
          <a:p>
            <a:pPr>
              <a:defRPr sz="2000"/>
            </a:pPr>
            <a:r>
              <a:t>Narrators efficiently convey crucial information and bridge narrative gaps in large-scale films.</a:t>
            </a:r>
          </a:p>
          <a:p>
            <a:pPr>
              <a:defRPr sz="2000"/>
            </a:pPr>
            <a:r>
              <a:t>Effectively makes non-existent places and events feel tangible and real to the audience.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Significance of Names in World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Iconic characters are often defined and remembered by their distinctive names (e.g., Vijay Dinanath Chauhan, Rancho).</a:t>
            </a:r>
          </a:p>
          <a:p>
            <a:pPr>
              <a:defRPr sz="2000"/>
            </a:pPr>
            <a:r>
              <a:t>Prashanth Neel leverages this by giving unique names to characters, places (El Dorado, Narachi, Khansaar), and entities.</a:t>
            </a:r>
          </a:p>
          <a:p>
            <a:pPr>
              <a:defRPr sz="2000"/>
            </a:pPr>
            <a:r>
              <a:t>Inspired by the naming conventions in works like Harry Potter and Lord of the Rings.</a:t>
            </a:r>
          </a:p>
          <a:p>
            <a:pPr>
              <a:defRPr sz="2000"/>
            </a:pPr>
            <a:r>
              <a:t>**Core Principle:** Iconic names contribute to the creation of iconic characters and memorable worlds.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Worlds: Fictional Meets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**Key Writing Technique: Connection** – linking fictional elements to recognizable reality.</a:t>
            </a:r>
          </a:p>
          <a:p>
            <a:pPr>
              <a:defRPr sz="2000"/>
            </a:pPr>
            <a:r>
              <a:t>Unlike period films, Prashanth Neel's present-day stories require strong realism.</a:t>
            </a:r>
          </a:p>
          <a:p>
            <a:pPr>
              <a:defRPr sz="2000"/>
            </a:pPr>
            <a:r>
              <a:t>Employs a 'Two Distinct Societies' formula (similar to J.K. Rowling's wizard/muggle worlds).</a:t>
            </a:r>
          </a:p>
          <a:p>
            <a:pPr>
              <a:defRPr sz="2000"/>
            </a:pPr>
            <a:r>
              <a:t>Interconnects worlds by infusing universal human values to make them relatable and believable.</a:t>
            </a:r>
          </a:p>
          <a:p>
            <a:pPr>
              <a:defRPr sz="2000"/>
            </a:pPr>
            <a:r>
              <a:t>Examples: Linking economic realities (gold prices), fictionalized real characters, and historical events (Khan Sa'ar's history, British Raj, India's map).</a:t>
            </a:r>
          </a:p>
          <a:p>
            <a:pPr>
              <a:defRPr sz="2000"/>
            </a:pPr>
            <a:r>
              <a:t>Lesson from Sanjay Leela Bhansali: Pure fantasy ('Saawariya') failed, while connecting fictional to real-world traditions ('Ramleela') succeeded.</a:t>
            </a:r>
          </a:p>
          <a:p>
            <a:pPr>
              <a:defRPr sz="2000"/>
            </a:pPr>
            <a:r>
              <a:t>Incorporating **Tradition** (e.g., Khansaar's traditional aesthetic) further enhances realism.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Pacing &amp; Dramatic 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Crafting Engagement and Momentum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'Breathing Space' in Fast-Paced Narratives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Prashanth Neel's films maintain a very fast pace, moving rapidly from one event to the next.</a:t>
            </a:r>
          </a:p>
          <a:p>
            <a:pPr>
              <a:defRPr sz="2000"/>
            </a:pPr>
            <a:r>
              <a:t>**Technique: Strategic Song Placement** within the script to deliberately slow down the narrative.</a:t>
            </a:r>
          </a:p>
          <a:p>
            <a:pPr>
              <a:defRPr sz="2000"/>
            </a:pPr>
            <a:r>
              <a:t>Songs provide crucial 'breathing space' for the audience to process information.</a:t>
            </a:r>
          </a:p>
          <a:p>
            <a:pPr>
              <a:defRPr sz="2000"/>
            </a:pPr>
            <a:r>
              <a:t>They also prepare viewers for new characters, upcoming events, or major plot developments.</a:t>
            </a:r>
          </a:p>
          <a:p>
            <a:pPr>
              <a:defRPr sz="2000"/>
            </a:pPr>
            <a:r>
              <a:t>Songs often mark the transition points between different narrative acts of the film.</a:t>
            </a:r>
          </a:p>
          <a:p>
            <a:pPr>
              <a:defRPr sz="2000"/>
            </a:pPr>
            <a:r>
              <a:t>Examples: Songs in KGF and KGF 2 consistently precede significant character introductions or plot shifts (e.g., 'Sultan' before Bangalore, 'Toofan' before Adheera).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Heroism &amp; Emotional Impact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Building Character &amp; Audience Experience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Hero Build-Up: Prashanth Neel's 'Show Also Tell'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Films feature extensive hero build-up, heavily influenced by the Telugu film industry.</a:t>
            </a:r>
          </a:p>
          <a:p>
            <a:pPr>
              <a:defRPr sz="2000"/>
            </a:pPr>
            <a:r>
              <a:t>Unlike Hindi cinema (action-driven intro, 'show, don't tell'), Prashanth Neel uses 'Show Also Tell'.</a:t>
            </a:r>
          </a:p>
          <a:p>
            <a:pPr>
              <a:defRPr sz="2000"/>
            </a:pPr>
            <a:r>
              <a:t>Characters' actions are often accompanied by narrators or other characters describing their power/legend, creating intense aura.</a:t>
            </a:r>
          </a:p>
          <a:p>
            <a:pPr>
              <a:defRPr sz="2000"/>
            </a:pPr>
            <a:r>
              <a:t>This technique aims to evoke 'goosebumps' and maximize the hero's impact.</a:t>
            </a:r>
          </a:p>
          <a:p>
            <a:pPr>
              <a:defRPr sz="2000"/>
            </a:pPr>
            <a:r>
              <a:t>Build-up is not limited to introductions but strategically repeated before 'High Moments'.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'High Moments' for Audience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Prashanth Neel designs specific 'High Moments' to elicit strong audience reactions (e.g., cheers, applause).</a:t>
            </a:r>
          </a:p>
          <a:p>
            <a:pPr>
              <a:defRPr sz="2000"/>
            </a:pPr>
            <a:r>
              <a:t>**Pre-High Moment Tactic: The Downfall** – hero is shown vulnerable or defeated, increasing anticipation.</a:t>
            </a:r>
          </a:p>
          <a:p>
            <a:pPr>
              <a:defRPr sz="2000"/>
            </a:pPr>
            <a:r>
              <a:t>The hero's subsequent 'comeback' makes these moments even more impactful and celebrated.</a:t>
            </a:r>
          </a:p>
          <a:p>
            <a:pPr>
              <a:defRPr sz="2000"/>
            </a:pPr>
            <a:r>
              <a:t>**Key Elements for Creating High Moments:**</a:t>
            </a:r>
          </a:p>
          <a:p>
            <a:pPr>
              <a:defRPr sz="2000"/>
            </a:pPr>
            <a:r>
              <a:t>  - **Music:** Dramatic scores amplify emotions.</a:t>
            </a:r>
          </a:p>
          <a:p>
            <a:pPr>
              <a:defRPr sz="2000"/>
            </a:pPr>
            <a:r>
              <a:t>  - **Dialogues:** Powerful and often memorable lines.</a:t>
            </a:r>
          </a:p>
          <a:p>
            <a:pPr>
              <a:defRPr sz="2000"/>
            </a:pPr>
            <a:r>
              <a:t>  - **Narrator:** Provides context and builds up the hero's significance.</a:t>
            </a:r>
          </a:p>
          <a:p>
            <a:pPr>
              <a:defRPr sz="2000"/>
            </a:pPr>
            <a:r>
              <a:t>  - **Downfall:** Preceding vulnerability makes the triumphant return more dramatic.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Childhood &amp; Flashbacks: Justifying Character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Childhood is presented in 'fragments' throughout the film, rather than a dedicated first act.</a:t>
            </a:r>
          </a:p>
          <a:p>
            <a:pPr>
              <a:defRPr sz="2000"/>
            </a:pPr>
            <a:r>
              <a:t>**Purpose:** These fragments subtly foreshadow and often reveal the entire film's story and character arcs.</a:t>
            </a:r>
          </a:p>
          <a:p>
            <a:pPr>
              <a:defRPr sz="2000"/>
            </a:pPr>
            <a:r>
              <a:t>Example: Rocky's childhood scenes in KGF predict his future actions and motivations.</a:t>
            </a:r>
          </a:p>
          <a:p>
            <a:pPr>
              <a:defRPr sz="2000"/>
            </a:pPr>
            <a:r>
              <a:t>**Flashbacks** are continuously used to justify current character actions and decisions (e.g., Rocky's locket, helping an old woman, Deva's mother's permission).</a:t>
            </a:r>
          </a:p>
          <a:p>
            <a:pPr>
              <a:defRPr sz="2000"/>
            </a:pPr>
            <a:r>
              <a:t>Every significant character action is deeply rooted in or explained by these past experiences.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Signature Themes &amp; Emotional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**Mother Emotion:** A central, powerful, and recurring motif in his films ('gets every single time right').</a:t>
            </a:r>
          </a:p>
          <a:p>
            <a:pPr>
              <a:defRPr sz="2000"/>
            </a:pPr>
            <a:r>
              <a:t>**Children:** Play an emotional role, often combined with mothers to create impactful 'Small Moments' that resonate strongly.</a:t>
            </a:r>
          </a:p>
          <a:p>
            <a:pPr>
              <a:defRPr sz="2000"/>
            </a:pPr>
            <a:r>
              <a:t>**The 'Anti-Hero' Archetype:** His protagonists are complex, often driven by morally ambiguous goals; he prefers to label them 'Villains' or 'Rakshasas'.</a:t>
            </a:r>
          </a:p>
          <a:p>
            <a:pPr>
              <a:defRPr sz="2000"/>
            </a:pPr>
            <a:r>
              <a:t>**Core Themes:** KGF 1: **Power** ('Power, Power, Power'); KGF 2: **Greed** ('Greed is good, Greed is progress'); Salaar: Deva (Power) vs. Vardha (Greed).</a:t>
            </a:r>
          </a:p>
          <a:p>
            <a:pPr>
              <a:defRPr sz="2000"/>
            </a:pPr>
            <a:r>
              <a:t>**The 'Promise':** A crucial narrative device that propels the story forward, often intertwined with these core emotional drivers.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Power of Repetition &amp; Emotional Uplift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**Repetition:** A common directorial technique used to reinforce themes or emotions (e.g., Rocky's mother scenes build mother-son bond).</a:t>
            </a:r>
          </a:p>
          <a:p>
            <a:pPr>
              <a:defRPr sz="2000"/>
            </a:pPr>
            <a:r>
              <a:t>**Stylistic Repetition:** Different dialogues delivered with a similar, impactful style ('Bade Ba', 'Kala Nika').</a:t>
            </a:r>
          </a:p>
          <a:p>
            <a:pPr>
              <a:defRPr sz="2000"/>
            </a:pPr>
            <a:r>
              <a:t>**Emotional Uplift:** Prashanth Neel uses heightened dialogue volume and dramatic sound design, especially at climactic moments, to elevate audience energy.</a:t>
            </a:r>
          </a:p>
          <a:p>
            <a:pPr>
              <a:defRPr sz="2000"/>
            </a:pPr>
            <a:r>
              <a:t>**Purpose:** Primarily to **emphasize the gravity of a scene** (also for surprise or tension).</a:t>
            </a:r>
          </a:p>
          <a:p>
            <a:pPr>
              <a:defRPr sz="2000"/>
            </a:pPr>
            <a:r>
              <a:t>Example: The distinct pronunciation of 'Kalashnikov' vs. 'Rachniko' creates memorability and impact, adding gravity to the scene.</a:t>
            </a:r>
          </a:p>
          <a:p>
            <a:pPr>
              <a:defRPr sz="2000"/>
            </a:pPr>
            <a:r>
              <a:t>Gravity is conveyed through a combination of powerful dialogue and intricate sound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2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ustom 2">
      <a:majorFont>
        <a:latin typeface="Bobby Jones"/>
        <a:ea typeface=""/>
        <a:cs typeface=""/>
      </a:majorFont>
      <a:minorFont>
        <a:latin typeface="Gotha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Demo</Template>
  <TotalTime>33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Gotham</vt:lpstr>
      <vt:lpstr>Bobby Jones</vt:lpstr>
      <vt:lpstr>title2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sem 5</dc:title>
  <cp:lastModifiedBy>BG Bhimani</cp:lastModifiedBy>
  <cp:revision>28</cp:revision>
  <dcterms:created xsi:type="dcterms:W3CDTF">2006-08-16T00:00:00Z</dcterms:created>
  <dcterms:modified xsi:type="dcterms:W3CDTF">2026-05-07T18:00:37Z</dcterms:modified>
  <dc:identifier>DAG__ds8C4w</dc:identifier>
</cp:coreProperties>
</file>