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8288000" cy="10287000"/>
  <p:notesSz cx="6858000" cy="9144000"/>
  <p:embeddedFontLst>
    <p:embeddedFont>
      <p:font typeface="Bobby Jones" panose="020B0604020202020204" charset="0"/>
      <p:regular r:id="rId2"/>
    </p:embeddedFont>
    <p:embeddedFont>
      <p:font typeface="Gotham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8EF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0690" autoAdjust="0"/>
    <p:restoredTop sz="94622" autoAdjust="0"/>
  </p:normalViewPr>
  <p:slideViewPr>
    <p:cSldViewPr>
      <p:cViewPr varScale="1">
        <p:scale>
          <a:sx n="51" d="100"/>
          <a:sy n="51" d="100"/>
        </p:scale>
        <p:origin x="67" y="4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font" Target="fonts/font1.fntdata"/><Relationship Id="rId3" Type="http://schemas.openxmlformats.org/officeDocument/2006/relationships/font" Target="fonts/font2.fntdata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476500"/>
            <a:ext cx="9906000" cy="2232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5448300"/>
            <a:ext cx="9906000" cy="2743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4686300"/>
            <a:ext cx="10972800" cy="3986213"/>
          </a:xfrm>
        </p:spPr>
        <p:txBody>
          <a:bodyPr anchor="t">
            <a:normAutofit/>
          </a:bodyPr>
          <a:lstStyle>
            <a:lvl1pPr algn="ctr">
              <a:defRPr sz="8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62400" y="1400175"/>
            <a:ext cx="10363200" cy="2743200"/>
          </a:xfrm>
        </p:spPr>
        <p:txBody>
          <a:bodyPr anchor="b">
            <a:normAutofit/>
          </a:bodyPr>
          <a:lstStyle>
            <a:lvl1pPr marL="0" indent="0" algn="ctr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Yt</a:t>
            </a:r>
            <a:r>
              <a:rPr lang="en-US" dirty="0"/>
              <a:t> Notes Studios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AB28-F868-EF8F-B440-DC8F95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2019F-32FF-C611-73CF-92F1991D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C95BBE-1005-4905-C7C5-EA9ACF95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Yt Notes Studios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D4927F-EA62-1932-4D2A-0CE9A83D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FC1245-D77D-B64C-E715-C8977ABAD3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51344" y="4152900"/>
            <a:ext cx="14765055" cy="487680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3200"/>
            </a:lvl3pPr>
            <a:lvl4pPr>
              <a:defRPr sz="32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78757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58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7683217-678E-2129-B176-6E44D2F94624}"/>
              </a:ext>
            </a:extLst>
          </p:cNvPr>
          <p:cNvSpPr/>
          <p:nvPr userDrawn="1"/>
        </p:nvSpPr>
        <p:spPr>
          <a:xfrm>
            <a:off x="701040" y="716598"/>
            <a:ext cx="16885920" cy="8782525"/>
          </a:xfrm>
          <a:prstGeom prst="roundRect">
            <a:avLst>
              <a:gd name="adj" fmla="val 3855"/>
            </a:avLst>
          </a:prstGeom>
          <a:solidFill>
            <a:srgbClr val="FFFFFF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6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33600" y="723900"/>
            <a:ext cx="14782800" cy="327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154400" y="2381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fld id="{1D8BD707-D9CF-40AE-B4C6-C98DA3205C09}" type="datetimeFigureOut">
              <a:rPr lang="en-US" smtClean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989139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 err="1"/>
              <a:t>Yt</a:t>
            </a:r>
            <a:r>
              <a:rPr lang="en-US" dirty="0"/>
              <a:t> Notes Studios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23920" y="98913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9E503042-7153-22A7-F0BB-B75A481FB7AE}"/>
              </a:ext>
            </a:extLst>
          </p:cNvPr>
          <p:cNvSpPr/>
          <p:nvPr userDrawn="1"/>
        </p:nvSpPr>
        <p:spPr>
          <a:xfrm>
            <a:off x="-24063" y="7429500"/>
            <a:ext cx="4138863" cy="3124200"/>
          </a:xfrm>
          <a:custGeom>
            <a:avLst/>
            <a:gdLst/>
            <a:ahLst/>
            <a:cxnLst/>
            <a:rect l="l" t="t" r="r" b="b"/>
            <a:pathLst>
              <a:path w="5414211" h="4114800">
                <a:moveTo>
                  <a:pt x="0" y="0"/>
                </a:moveTo>
                <a:lnTo>
                  <a:pt x="5414211" y="0"/>
                </a:lnTo>
                <a:lnTo>
                  <a:pt x="54142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4305300"/>
            <a:ext cx="147828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5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9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M4 MacBook Air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Powerful Refresh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the M4 MacBook Air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More Capable, Better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Follows the highly successful M4 Mac Mini refresh</a:t>
            </a:r>
          </a:p>
          <a:p>
            <a:pPr>
              <a:defRPr sz="2000"/>
            </a:pPr>
            <a:r>
              <a:t>Most capable and powerful MacBook Air version to date</a:t>
            </a:r>
          </a:p>
          <a:p>
            <a:pPr>
              <a:defRPr sz="2000"/>
            </a:pPr>
            <a:r>
              <a:t>Features the new M4 chip for significant performance gains</a:t>
            </a:r>
          </a:p>
          <a:p>
            <a:pPr>
              <a:defRPr sz="2000"/>
            </a:pPr>
            <a:r>
              <a:t>Base model now starts with 16GB unified memory</a:t>
            </a:r>
          </a:p>
          <a:p>
            <a:pPr>
              <a:defRPr sz="2000"/>
            </a:pPr>
            <a:r>
              <a:t>Subtly larger battery, Thunderbolt improvements, and a new webcam</a:t>
            </a:r>
          </a:p>
          <a:p>
            <a:pPr>
              <a:defRPr sz="2000"/>
            </a:pPr>
            <a:r>
              <a:t>The base price has dropped back down to $999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&amp; Physical Updates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Familiar Form, Subtle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Physical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Largely unchanged design: same keyboard, MagSafe, 2x USB-C ports, headphone jack</a:t>
            </a:r>
          </a:p>
          <a:p>
            <a:pPr>
              <a:defRPr sz="2000"/>
            </a:pPr>
            <a:r>
              <a:t>Retains the notch at the top of the 60Hz LCD, thin and light aluminum build</a:t>
            </a:r>
          </a:p>
          <a:p>
            <a:pPr>
              <a:defRPr sz="2000"/>
            </a:pPr>
            <a:r>
              <a:t>Mute button icon has a new design</a:t>
            </a:r>
          </a:p>
          <a:p>
            <a:pPr>
              <a:defRPr sz="2000"/>
            </a:pPr>
            <a:r>
              <a:t>Upgraded to a 12-megapixel Center Stage webcam</a:t>
            </a:r>
          </a:p>
          <a:p>
            <a:pPr>
              <a:defRPr sz="2000"/>
            </a:pPr>
            <a:r>
              <a:t>Slight battery capacity increase from 52.6 Wh to 53.8 Wh (approx. 2% more)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'Sky Blue'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A new 'Sky Blue' color replaces Space Gray</a:t>
            </a:r>
          </a:p>
          <a:p>
            <a:pPr>
              <a:defRPr sz="2000"/>
            </a:pPr>
            <a:r>
              <a:t>A very subtle shade, often appearing silver in certain lighting conditions</a:t>
            </a:r>
          </a:p>
          <a:p>
            <a:pPr>
              <a:defRPr sz="2000"/>
            </a:pPr>
            <a:r>
              <a:t>Easily identifiable as the new model for those who know what to look for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M4 Chip: Performance &amp;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Unleashing New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M4 Chip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The M4 chip is the primary reason for this generation's significance</a:t>
            </a:r>
          </a:p>
          <a:p>
            <a:pPr>
              <a:defRPr sz="2000"/>
            </a:pPr>
            <a:r>
              <a:t>Passively cooled (no fans), ideal for quick, bursty tasks typical of Air usage</a:t>
            </a:r>
          </a:p>
          <a:p>
            <a:pPr>
              <a:defRPr sz="2000"/>
            </a:pPr>
            <a:r>
              <a:t>Sustained performance ceiling is lower than actively cooled M4 Macs</a:t>
            </a:r>
          </a:p>
          <a:p>
            <a:pPr>
              <a:defRPr sz="2000"/>
            </a:pPr>
            <a:r>
              <a:t>Features a more powerful 16-core Neural Engine for AI-specific horsepower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Pro-Level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AI features like Image Playground render images locally faster than ever</a:t>
            </a:r>
          </a:p>
          <a:p>
            <a:pPr>
              <a:defRPr sz="2000"/>
            </a:pPr>
            <a:r>
              <a:t>Background cutouts are quicker and more accurate</a:t>
            </a:r>
          </a:p>
          <a:p>
            <a:pPr>
              <a:defRPr sz="2000"/>
            </a:pPr>
            <a:r>
              <a:t>Single-click photo enhancers (e.g., Pixelmator Pro) are significantly faster</a:t>
            </a:r>
          </a:p>
          <a:p>
            <a:pPr>
              <a:defRPr sz="2000"/>
            </a:pPr>
            <a:r>
              <a:t>Capable of tasks previously requiring a Pro chip just a couple of years ago</a:t>
            </a:r>
          </a:p>
          <a:p>
            <a:pPr>
              <a:defRPr sz="2000"/>
            </a:pPr>
            <a:r>
              <a:t>Can handle 4K and 8K footage in Final Cut Pro with minimal hesitation</a:t>
            </a:r>
          </a:p>
          <a:p>
            <a:pPr>
              <a:defRPr sz="2000"/>
            </a:pPr>
            <a:r>
              <a:t>Supports connecting two 6K displays simultaneously with the lid open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&amp; Value Proposition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Is the Base Model Enough?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Display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The current display is good, but a better display (Mini LED, ProMotion) would be a welcome option</a:t>
            </a:r>
          </a:p>
          <a:p>
            <a:pPr>
              <a:defRPr sz="2000"/>
            </a:pPr>
            <a:r>
              <a:t>Apple continues to reserve high-end display technologies for the MacBook Pro lineup</a:t>
            </a:r>
          </a:p>
          <a:p>
            <a:pPr>
              <a:defRPr sz="2000"/>
            </a:pPr>
            <a:r>
              <a:t>Most users will find the existing display perfectly adequate for their daily tasks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Base Model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The $999 base M4 MacBook Air is highly recommended for most users</a:t>
            </a:r>
          </a:p>
          <a:p>
            <a:pPr>
              <a:defRPr sz="2000"/>
            </a:pPr>
            <a:r>
              <a:t>Includes a robust 16GB of unified memory and 256GB of base storage</a:t>
            </a:r>
          </a:p>
          <a:p>
            <a:pPr>
              <a:defRPr sz="2000"/>
            </a:pPr>
            <a:r>
              <a:t>16GB base memory is a huge upgrade, significantly improving multitasking and longevity</a:t>
            </a:r>
          </a:p>
          <a:p>
            <a:pPr>
              <a:defRPr sz="2000"/>
            </a:pPr>
            <a:r>
              <a:t>A faster charger is available as a $20 optional upgrade</a:t>
            </a:r>
          </a:p>
          <a:p>
            <a:pPr>
              <a:defRPr sz="2000"/>
            </a:pPr>
            <a:r>
              <a:t>Last-gen M3 MacBook Air (8GB memory) is currently available for $799, offering an alternative for budget-conscious buyers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Evolution of MacBook Air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From Concept to Computing Staple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>
              <a:defRPr sz="2000"/>
            </a:pPr>
            <a:r>
              <a:t>Initially a 'spectacle of engineering' but somewhat impractical with limited ports</a:t>
            </a:r>
          </a:p>
          <a:p>
            <a:pPr>
              <a:defRPr sz="2000"/>
            </a:pPr>
            <a:r>
              <a:t>Evolved to become an easy-to-recommend laptop at its $999 price point</a:t>
            </a:r>
          </a:p>
          <a:p>
            <a:pPr>
              <a:defRPr sz="2000"/>
            </a:pPr>
            <a:r>
              <a:t>M2 generation saw a price increase to $1,199 due to Apple Silicon and base storage upgrades</a:t>
            </a:r>
          </a:p>
          <a:p>
            <a:pPr>
              <a:defRPr sz="2000"/>
            </a:pPr>
            <a:r>
              <a:t>The M4 generation brings the base price back to $999, making it an exceptional deal</a:t>
            </a:r>
          </a:p>
          <a:p>
            <a:pPr>
              <a:defRPr sz="2000"/>
            </a:pPr>
            <a:r>
              <a:t>This continuous improvement highlights how advanced and capable modern laptops have become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2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2">
      <a:majorFont>
        <a:latin typeface="Bobby Jones"/>
        <a:ea typeface=""/>
        <a:cs typeface=""/>
      </a:majorFont>
      <a:minorFont>
        <a:latin typeface="Gotha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Demo</Template>
  <TotalTime>33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Gotham</vt:lpstr>
      <vt:lpstr>Bobby Jones</vt:lpstr>
      <vt:lpstr>title2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sem 5</dc:title>
  <cp:lastModifiedBy>BG Bhimani</cp:lastModifiedBy>
  <cp:revision>28</cp:revision>
  <dcterms:created xsi:type="dcterms:W3CDTF">2006-08-16T00:00:00Z</dcterms:created>
  <dcterms:modified xsi:type="dcterms:W3CDTF">2026-05-07T18:00:37Z</dcterms:modified>
  <dc:identifier>DAG__ds8C4w</dc:identifier>
</cp:coreProperties>
</file>