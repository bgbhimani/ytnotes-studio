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8288000" cy="10287000"/>
  <p:notesSz cx="6858000" cy="9144000"/>
  <p:embeddedFontLst>
    <p:embeddedFont>
      <p:font typeface="Bobby Jones" panose="020B0604020202020204" charset="0"/>
      <p:regular r:id="rId2"/>
    </p:embeddedFont>
    <p:embeddedFont>
      <p:font typeface="Gotham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8E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0690" autoAdjust="0"/>
    <p:restoredTop sz="94622" autoAdjust="0"/>
  </p:normalViewPr>
  <p:slideViewPr>
    <p:cSldViewPr>
      <p:cViewPr varScale="1">
        <p:scale>
          <a:sx n="51" d="100"/>
          <a:sy n="51" d="100"/>
        </p:scale>
        <p:origin x="67" y="4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font" Target="fonts/font1.fntdata"/><Relationship Id="rId3" Type="http://schemas.openxmlformats.org/officeDocument/2006/relationships/font" Target="fonts/font2.fntdata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2476500"/>
            <a:ext cx="9906000" cy="2232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5448300"/>
            <a:ext cx="9906000" cy="2743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Yt</a:t>
            </a:r>
            <a:r>
              <a:rPr lang="en-US" dirty="0"/>
              <a:t> Notes Studios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4686300"/>
            <a:ext cx="10972800" cy="3986213"/>
          </a:xfrm>
        </p:spPr>
        <p:txBody>
          <a:bodyPr anchor="t">
            <a:normAutofit/>
          </a:bodyPr>
          <a:lstStyle>
            <a:lvl1pPr algn="ctr">
              <a:defRPr sz="8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2400" y="1400175"/>
            <a:ext cx="10363200" cy="2743200"/>
          </a:xfrm>
        </p:spPr>
        <p:txBody>
          <a:bodyPr anchor="b">
            <a:normAutofit/>
          </a:bodyPr>
          <a:lstStyle>
            <a:lvl1pPr marL="0" indent="0" algn="ctr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Yt</a:t>
            </a:r>
            <a:r>
              <a:rPr lang="en-US" dirty="0"/>
              <a:t> Notes Studios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AB28-F868-EF8F-B440-DC8F9524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2019F-32FF-C611-73CF-92F1991D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D8BD707-D9CF-40AE-B4C6-C98DA3205C09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95BBE-1005-4905-C7C5-EA9ACF953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Yt Notes Studios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4927F-EA62-1932-4D2A-0CE9A83D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FC1245-D77D-B64C-E715-C8977ABAD3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51344" y="4152900"/>
            <a:ext cx="14765055" cy="487680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78757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58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683217-678E-2129-B176-6E44D2F94624}"/>
              </a:ext>
            </a:extLst>
          </p:cNvPr>
          <p:cNvSpPr/>
          <p:nvPr userDrawn="1"/>
        </p:nvSpPr>
        <p:spPr>
          <a:xfrm>
            <a:off x="701040" y="716598"/>
            <a:ext cx="16885920" cy="8782525"/>
          </a:xfrm>
          <a:prstGeom prst="roundRect">
            <a:avLst>
              <a:gd name="adj" fmla="val 3855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3600" y="723900"/>
            <a:ext cx="14782800" cy="327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54400" y="2381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fld id="{1D8BD707-D9CF-40AE-B4C6-C98DA3205C09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989139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err="1"/>
              <a:t>Yt</a:t>
            </a:r>
            <a:r>
              <a:rPr lang="en-US" dirty="0"/>
              <a:t> Notes Studios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23920" y="989139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E503042-7153-22A7-F0BB-B75A481FB7AE}"/>
              </a:ext>
            </a:extLst>
          </p:cNvPr>
          <p:cNvSpPr/>
          <p:nvPr userDrawn="1"/>
        </p:nvSpPr>
        <p:spPr>
          <a:xfrm>
            <a:off x="-24063" y="7429500"/>
            <a:ext cx="4138863" cy="3124200"/>
          </a:xfrm>
          <a:custGeom>
            <a:avLst/>
            <a:gdLst/>
            <a:ahLst/>
            <a:cxnLst/>
            <a:rect l="l" t="t" r="r" b="b"/>
            <a:pathLst>
              <a:path w="5414211" h="4114800">
                <a:moveTo>
                  <a:pt x="0" y="0"/>
                </a:moveTo>
                <a:lnTo>
                  <a:pt x="5414211" y="0"/>
                </a:lnTo>
                <a:lnTo>
                  <a:pt x="54142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4305300"/>
            <a:ext cx="147828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9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Insta360 Luna Ultra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First Look &amp; Deep 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the Insta360 Luna Ultra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New Era in Pocket Gimbal Cameras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Insta360 Luna Ultra: Design &amp;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Gimbal-stabilized camera, larger and heavier than predecessors.</a:t>
            </a:r>
          </a:p>
          <a:p>
            <a:pPr>
              <a:defRPr sz="2000"/>
            </a:pPr>
            <a:r>
              <a:t>Dual Leica lenses with Leica Color Science.</a:t>
            </a:r>
          </a:p>
          <a:p>
            <a:pPr>
              <a:defRPr sz="2000"/>
            </a:pPr>
            <a:r>
              <a:t>1× lens: F1.8 aperture, 1-inch sensor.</a:t>
            </a:r>
          </a:p>
          <a:p>
            <a:pPr>
              <a:defRPr sz="2000"/>
            </a:pPr>
            <a:r>
              <a:t>3× lens: F2 aperture, 1/1.3-inch sensor, capable of macro-level close-ups.</a:t>
            </a:r>
          </a:p>
          <a:p>
            <a:pPr>
              <a:defRPr sz="2000"/>
            </a:pPr>
            <a:r>
              <a:t>Zoom range includes digital crops and a sudden switch between lenses, up to 12× digital zoom (with image quality loss).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Powerful Video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Shoots up to 8K with Dolby Vision support.</a:t>
            </a:r>
          </a:p>
          <a:p>
            <a:pPr>
              <a:defRPr sz="2000"/>
            </a:pPr>
            <a:r>
              <a:t>Records 4K at 120 frames per second.</a:t>
            </a:r>
          </a:p>
          <a:p>
            <a:pPr>
              <a:defRPr sz="2000"/>
            </a:pPr>
            <a:r>
              <a:t>10-bit log in Insta360's I-Log format, supporting ACES color grading workflow.</a:t>
            </a:r>
          </a:p>
          <a:p>
            <a:pPr>
              <a:defRPr sz="2000"/>
            </a:pPr>
            <a:r>
              <a:t>Focus Breathing Compensation digitally crops to avoid slight zooming as focus adjusts.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Detachable Touchscreen Remote &amp;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Removable touchscreen acts as a remote control, allowing wireless video preview.</a:t>
            </a:r>
          </a:p>
          <a:p>
            <a:pPr>
              <a:defRPr sz="2000"/>
            </a:pPr>
            <a:r>
              <a:t>Triggers focus, tracks people/objects, controls power, recording, joystick, and zoom.</a:t>
            </a:r>
          </a:p>
          <a:p>
            <a:pPr>
              <a:defRPr sz="2000"/>
            </a:pPr>
            <a:r>
              <a:t>Can be used as a microphone or connect up to two Mic Pro microphones without a receiver.</a:t>
            </a:r>
          </a:p>
          <a:p>
            <a:pPr>
              <a:defRPr sz="2000"/>
            </a:pPr>
            <a:r>
              <a:t>Luna Ultra handle includes tiny, integrated tripod feet.</a:t>
            </a:r>
          </a:p>
          <a:p>
            <a:pPr>
              <a:defRPr sz="2000"/>
            </a:pPr>
            <a:r>
              <a:t>Combines to make a great travel camera for cinematic gimbal shots, vlogging, and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 for Getting the Most Out of Your Luna Ultra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Practical Applications and Advanced Techniques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Leveraging the Detachable Screen for Remote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Remove the screen to use it as a remote control with wireless video.</a:t>
            </a:r>
          </a:p>
          <a:p>
            <a:pPr>
              <a:defRPr sz="2000"/>
            </a:pPr>
            <a:r>
              <a:t>Monitor your shot and frame precisely while the camera is placed elsewhere.</a:t>
            </a:r>
          </a:p>
          <a:p>
            <a:pPr>
              <a:defRPr sz="2000"/>
            </a:pPr>
            <a:r>
              <a:t>Utilize the remote as a microphone when filming yourself remotely.</a:t>
            </a:r>
          </a:p>
          <a:p>
            <a:pPr>
              <a:defRPr sz="2000"/>
            </a:pPr>
            <a:r>
              <a:t>Example: Filming from a tram while monitoring the shot in your hand.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Achieving Professional Vlog 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Position the Luna Ultra about 3 meters away using the 3× lens for a telephoto look.</a:t>
            </a:r>
          </a:p>
          <a:p>
            <a:pPr>
              <a:defRPr sz="2000"/>
            </a:pPr>
            <a:r>
              <a:t>Adjust gimbal (pan, tilt) and frame the shot using the remote's joystick.</a:t>
            </a:r>
          </a:p>
          <a:p>
            <a:pPr>
              <a:defRPr sz="2000"/>
            </a:pPr>
            <a:r>
              <a:t>Use the remote's built-in microphone for clear audio.</a:t>
            </a:r>
          </a:p>
          <a:p>
            <a:pPr>
              <a:defRPr sz="2000"/>
            </a:pPr>
            <a:r>
              <a:t>Tap on yourself on the remote screen to set focus, creating a professional vlog setup.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Tracking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Activate tracking by single-clicking the joystick to detect and track subjects.</a:t>
            </a:r>
          </a:p>
          <a:p>
            <a:pPr>
              <a:defRPr sz="2000"/>
            </a:pPr>
            <a:r>
              <a:t>Adjust framing during tracking using the joystick to refine composition.</a:t>
            </a:r>
          </a:p>
          <a:p>
            <a:pPr>
              <a:defRPr sz="2000"/>
            </a:pPr>
            <a:r>
              <a:t>Tracking works effectively with both 1× and 3× lenses, and throughout the zoom range.</a:t>
            </a:r>
          </a:p>
          <a:p>
            <a:pPr>
              <a:defRPr sz="2000"/>
            </a:pPr>
            <a:r>
              <a:t>Be aware of gimbal limits: angle the gimbal to maximize tracking range, especially when moving to one side.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 Light Performance &amp; Audio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Good low-light performance with both lenses, with the 1× lens offering slightly better sensitivity.</a:t>
            </a:r>
          </a:p>
          <a:p>
            <a:pPr>
              <a:defRPr sz="2000"/>
            </a:pPr>
            <a:r>
              <a:t>PureVideo mode (up to 4K 60fps) provides a cleaner image with noise reduction, ideal for no post-processing.</a:t>
            </a:r>
          </a:p>
          <a:p>
            <a:pPr>
              <a:defRPr sz="2000"/>
            </a:pPr>
            <a:r>
              <a:t>Use I-Log for low-light footage if you plan on color grading and manual noise reduction.</a:t>
            </a:r>
          </a:p>
          <a:p>
            <a:pPr>
              <a:defRPr sz="2000"/>
            </a:pPr>
            <a:r>
              <a:t>Adjustable built-in mic pickup patterns: choose front-only or front-and-back (not omnidirectional).</a:t>
            </a:r>
          </a:p>
          <a:p>
            <a:pPr>
              <a:defRPr sz="2000"/>
            </a:pPr>
            <a:r>
              <a:t>Mic Pro offers internal 32-Bit Float stereo recording, preventing audio peaking.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Gimbal Control: The Lock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A new feature allows locking the gimbal's orientation (unlike previous pocket gimbals).</a:t>
            </a:r>
          </a:p>
          <a:p>
            <a:pPr>
              <a:defRPr sz="2000"/>
            </a:pPr>
            <a:r>
              <a:t>Customize a button for single-press Lock/Unlock Gimbal Direction.</a:t>
            </a:r>
          </a:p>
          <a:p>
            <a:pPr>
              <a:defRPr sz="2000"/>
            </a:pPr>
            <a:r>
              <a:t>In 'chicken head mode', the gimbal stays fixed, not following pan or tilt movements.</a:t>
            </a:r>
          </a:p>
          <a:p>
            <a:pPr>
              <a:defRPr sz="2000"/>
            </a:pPr>
            <a:r>
              <a:t>Prevents accidental panning or tilting during complex or controlled shots.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Shots: Fake Drone &amp; Low Angle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**Fake Drone Shot**: Remove screen, extend gimbal on an extension rod, lock gimbal orientation, use remote for monitoring.</a:t>
            </a:r>
          </a:p>
          <a:p>
            <a:pPr>
              <a:defRPr sz="2000"/>
            </a:pPr>
            <a:r>
              <a:t>**Low-Angle Shots**: Invert the camera, remove the screen (which auto-rotates the image), and hold the screen for monitoring and control.</a:t>
            </a:r>
          </a:p>
          <a:p>
            <a:pPr>
              <a:defRPr sz="2000"/>
            </a:pPr>
            <a:r>
              <a:t>Crouch and perform a 'ninja walk' with a locked gimbal for smooth, low-angle footage.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 Accessories &amp; Recommended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**Optional Wide-Angle Lens**: Magnetically snaps on, affects only the 1× lens, adds correctable fisheye distortion.</a:t>
            </a:r>
          </a:p>
          <a:p>
            <a:pPr>
              <a:defRPr sz="2000"/>
            </a:pPr>
            <a:r>
              <a:t>**Neutral Density (ND) Filters**: Magnetically attach, essential for achieving proper motion blur in bright light.</a:t>
            </a:r>
          </a:p>
          <a:p>
            <a:pPr>
              <a:defRPr sz="2000"/>
            </a:pPr>
            <a:r>
              <a:t>**Recommended Shooting Settings**: Shoot at 48p with a shutter speed of 1/100 (manual or auto-adjust).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2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2">
      <a:majorFont>
        <a:latin typeface="Bobby Jones"/>
        <a:ea typeface=""/>
        <a:cs typeface=""/>
      </a:majorFont>
      <a:minorFont>
        <a:latin typeface="Gotha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Demo</Template>
  <TotalTime>33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Gotham</vt:lpstr>
      <vt:lpstr>Bobby Jones</vt:lpstr>
      <vt:lpstr>title2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sem 5</dc:title>
  <cp:lastModifiedBy>BG Bhimani</cp:lastModifiedBy>
  <cp:revision>28</cp:revision>
  <dcterms:created xsi:type="dcterms:W3CDTF">2006-08-16T00:00:00Z</dcterms:created>
  <dcterms:modified xsi:type="dcterms:W3CDTF">2026-05-07T18:00:37Z</dcterms:modified>
  <dc:identifier>DAG__ds8C4w</dc:identifier>
</cp:coreProperties>
</file>