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8288000" cy="10287000"/>
  <p:notesSz cx="6858000" cy="9144000"/>
  <p:embeddedFontLst>
    <p:embeddedFont>
      <p:font typeface="Bobby Jones" panose="020B0604020202020204" charset="0"/>
      <p:regular r:id="rId2"/>
    </p:embeddedFont>
    <p:embeddedFont>
      <p:font typeface="Gotham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8E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6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7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476500"/>
            <a:ext cx="9906000" cy="2232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448300"/>
            <a:ext cx="9906000" cy="2743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4686300"/>
            <a:ext cx="10972800" cy="3986213"/>
          </a:xfrm>
        </p:spPr>
        <p:txBody>
          <a:bodyPr anchor="t">
            <a:normAutofit/>
          </a:bodyPr>
          <a:lstStyle>
            <a:lvl1pPr algn="ctr">
              <a:defRPr sz="8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2400" y="1400175"/>
            <a:ext cx="10363200" cy="2743200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28-F868-EF8F-B440-DC8F95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019F-32FF-C611-73CF-92F1991D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5BBE-1005-4905-C7C5-EA9ACF9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Yt Notes Studios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927F-EA62-1932-4D2A-0CE9A83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FC1245-D77D-B64C-E715-C8977ABAD3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1344" y="4152900"/>
            <a:ext cx="14765055" cy="487680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8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58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683217-678E-2129-B176-6E44D2F94624}"/>
              </a:ext>
            </a:extLst>
          </p:cNvPr>
          <p:cNvSpPr/>
          <p:nvPr userDrawn="1"/>
        </p:nvSpPr>
        <p:spPr>
          <a:xfrm>
            <a:off x="701040" y="716598"/>
            <a:ext cx="16885920" cy="8782525"/>
          </a:xfrm>
          <a:prstGeom prst="roundRect">
            <a:avLst>
              <a:gd name="adj" fmla="val 3855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3600" y="723900"/>
            <a:ext cx="14782800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54400" y="238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989139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err="1"/>
              <a:t>Yt</a:t>
            </a:r>
            <a:r>
              <a:rPr lang="en-US" dirty="0"/>
              <a:t> Notes Studios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23920" y="98913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503042-7153-22A7-F0BB-B75A481FB7AE}"/>
              </a:ext>
            </a:extLst>
          </p:cNvPr>
          <p:cNvSpPr/>
          <p:nvPr userDrawn="1"/>
        </p:nvSpPr>
        <p:spPr>
          <a:xfrm>
            <a:off x="-24063" y="7429500"/>
            <a:ext cx="4138863" cy="3124200"/>
          </a:xfrm>
          <a:custGeom>
            <a:avLst/>
            <a:gdLst/>
            <a:ahLst/>
            <a:cxnLst/>
            <a:rect l="l" t="t" r="r" b="b"/>
            <a:pathLst>
              <a:path w="5414211" h="4114800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305300"/>
            <a:ext cx="1478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Pediatrics Rapid Revision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Dr. Anand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Sessions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Pediatrics Part 1 &amp; Part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अगर जिंदगी में कुछ पाना हो तो तरीके बदले इरादे नहीं।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Sirenomelia (Caudal Regression Syndrome)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Fusion of lower extremities (recent exam question).</a:t>
            </a:r>
          </a:p>
          <a:p>
            <a:pPr>
              <a:defRPr sz="2000"/>
            </a:pPr>
            <a:r>
              <a:t>Associated with pre-existing Diabetes Mellitus.</a:t>
            </a:r>
          </a:p>
          <a:p>
            <a:pPr>
              <a:defRPr sz="2000"/>
            </a:pPr>
            <a:r>
              <a:t>Most common neurological abnormality in Infant of Diabetic Mother (IDM): Neural Tube Defect.</a:t>
            </a:r>
          </a:p>
          <a:p>
            <a:pPr>
              <a:defRPr sz="2000"/>
            </a:pPr>
            <a:r>
              <a:t>Most specific neurological abnormality in IDM: Caudal Regression Syndrome.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Cardiac Conditions &amp; Lung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Curly B-lines (X-ray): Seen in Infracardiac Total Anomalous Pulmonary Venous Connection (TAPVC).</a:t>
            </a:r>
          </a:p>
          <a:p>
            <a:pPr>
              <a:defRPr sz="2000"/>
            </a:pPr>
            <a:r>
              <a:t>Supracardiac TAPVC: Figure of 8 / Snowman appearance.</a:t>
            </a:r>
          </a:p>
          <a:p>
            <a:pPr>
              <a:defRPr sz="2000"/>
            </a:pPr>
            <a:r>
              <a:t>Infracardiac TAPVC: 'White out lung' (Medical Emergency, most obstructive type).</a:t>
            </a:r>
          </a:p>
          <a:p>
            <a:pPr>
              <a:defRPr sz="2000"/>
            </a:pPr>
            <a:r>
              <a:t>Respiratory 'White out lung': Hyaline Membrane Disease (HMD) / Respiratory Distress Syndrome (RDS).</a:t>
            </a:r>
          </a:p>
          <a:p>
            <a:pPr>
              <a:defRPr sz="2000"/>
            </a:pPr>
            <a:r>
              <a:t>HMD/RDS is due to Surfactant Deficiency.</a:t>
            </a:r>
          </a:p>
          <a:p>
            <a:pPr>
              <a:defRPr sz="2000"/>
            </a:pPr>
            <a:r>
              <a:t>Surfactant is formed by Type II Pneumocytes.</a:t>
            </a:r>
          </a:p>
          <a:p>
            <a:pPr>
              <a:defRPr sz="2000"/>
            </a:pPr>
            <a:r>
              <a:t>Surfactant in amniotic fluid by 28 weeks; in proper lung development by 33-35 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Boot-Shaped Heart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Classic finding in Tetralogy of Fallot (TOF).</a:t>
            </a:r>
          </a:p>
          <a:p>
            <a:pPr>
              <a:defRPr sz="2000"/>
            </a:pPr>
            <a:r>
              <a:t>TOF Components (4):</a:t>
            </a:r>
          </a:p>
          <a:p>
            <a:pPr>
              <a:defRPr sz="2000"/>
            </a:pPr>
            <a:r>
              <a:t>  1. Right Ventricular Hypertrophy (RVH)</a:t>
            </a:r>
          </a:p>
          <a:p>
            <a:pPr>
              <a:defRPr sz="2000"/>
            </a:pPr>
            <a:r>
              <a:t>  2. Ventricular Septal Defect (VSD)</a:t>
            </a:r>
          </a:p>
          <a:p>
            <a:pPr>
              <a:defRPr sz="2000"/>
            </a:pPr>
            <a:r>
              <a:t>  3. Overriding Aorta</a:t>
            </a:r>
          </a:p>
          <a:p>
            <a:pPr>
              <a:defRPr sz="2000"/>
            </a:pPr>
            <a:r>
              <a:t>  4. Progressive Infundibular Pulmonary Stenosis</a:t>
            </a:r>
          </a:p>
          <a:p>
            <a:pPr>
              <a:defRPr sz="2000"/>
            </a:pPr>
            <a:r>
              <a:t>TOF usually presents with cyanosis later in life due to progressive stenosis.</a:t>
            </a:r>
          </a:p>
          <a:p>
            <a:pPr>
              <a:defRPr sz="2000"/>
            </a:pPr>
            <a:r>
              <a:t>TOF DOES NOT present with cyanosis on Day 1 of life.</a:t>
            </a:r>
          </a:p>
          <a:p>
            <a:pPr>
              <a:defRPr sz="2000"/>
            </a:pPr>
            <a:r>
              <a:t>Most common cyanotic Congenital Heart Disease (CHD) on Day 1 of life: Transposition of Great Arteries (TGA).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Coarctation of Aorta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X-ray findings: E-sign / Reverse 3 sign / Figure of 3 appearance.</a:t>
            </a:r>
          </a:p>
          <a:p>
            <a:pPr>
              <a:defRPr sz="2000"/>
            </a:pPr>
            <a:r>
              <a:t>Aortic obstruction leads to over-congestion in the upper body.</a:t>
            </a:r>
          </a:p>
          <a:p>
            <a:pPr>
              <a:defRPr sz="2000"/>
            </a:pPr>
            <a:r>
              <a:t>Clinical features:</a:t>
            </a:r>
          </a:p>
          <a:p>
            <a:pPr>
              <a:defRPr sz="2000"/>
            </a:pPr>
            <a:r>
              <a:t>  - Bounding upper limb pulses</a:t>
            </a:r>
          </a:p>
          <a:p>
            <a:pPr>
              <a:defRPr sz="2000"/>
            </a:pPr>
            <a:r>
              <a:t>  - Feeble lower limb pulses</a:t>
            </a:r>
          </a:p>
          <a:p>
            <a:pPr>
              <a:defRPr sz="2000"/>
            </a:pPr>
            <a:r>
              <a:t>Late finding (due to collateral circulation): Rib Notching (inferior margin of ribs).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Oligemic Lung Field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Definition: Decreased Pulmonary Blood Flow (PBF).</a:t>
            </a:r>
          </a:p>
          <a:p>
            <a:pPr>
              <a:defRPr sz="2000"/>
            </a:pPr>
            <a:r>
              <a:t>Plethoric (Increased PBF) conditions (Left-to-Right shunts): ASD, VSD, PDA.</a:t>
            </a:r>
          </a:p>
          <a:p>
            <a:pPr>
              <a:defRPr sz="2000"/>
            </a:pPr>
            <a:r>
              <a:t>Oligemic (Decreased PBF) condition: Ebstein Anomaly.</a:t>
            </a:r>
          </a:p>
          <a:p>
            <a:pPr>
              <a:defRPr sz="2000"/>
            </a:pPr>
            <a:r>
              <a:t>Ebstein Anomaly: Downward displacement of tricuspid valve.</a:t>
            </a:r>
          </a:p>
          <a:p>
            <a:pPr>
              <a:defRPr sz="2000"/>
            </a:pPr>
            <a:r>
              <a:t>Results in large Right Atrium and small Right Ventricle, leading to reduced PBF.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Ambiguous Genitalia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Case: 3-year-old girl with enlarged clitoris and abnormal genitalia.</a:t>
            </a:r>
          </a:p>
          <a:p>
            <a:pPr>
              <a:defRPr sz="2000"/>
            </a:pPr>
            <a:r>
              <a:t>Most common enzyme deficiency in Congenital Adrenal Hyperplasia (CAH): 21-Hydroxylase Deficiency.</a:t>
            </a:r>
          </a:p>
          <a:p>
            <a:pPr>
              <a:defRPr sz="2000"/>
            </a:pPr>
            <a:r>
              <a:t>Affects the synthesis of cortisol, aldosterone, and sex hormones.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Abdominal Wall Defects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Gastroschisis:</a:t>
            </a:r>
          </a:p>
          <a:p>
            <a:pPr>
              <a:defRPr sz="2000"/>
            </a:pPr>
            <a:r>
              <a:t>  - Abdominal contents (intestines only) are outside the abdomen.</a:t>
            </a:r>
          </a:p>
          <a:p>
            <a:pPr>
              <a:defRPr sz="2000"/>
            </a:pPr>
            <a:r>
              <a:t>  - NOT covered by a sac.</a:t>
            </a:r>
          </a:p>
          <a:p>
            <a:pPr>
              <a:defRPr sz="2000"/>
            </a:pPr>
            <a:r>
              <a:t>Omphalocele:</a:t>
            </a:r>
          </a:p>
          <a:p>
            <a:pPr>
              <a:defRPr sz="2000"/>
            </a:pPr>
            <a:r>
              <a:t>  - Abdominal contents (intestines, liver, spleen) are outside the abdomen.</a:t>
            </a:r>
          </a:p>
          <a:p>
            <a:pPr>
              <a:defRPr sz="2000"/>
            </a:pPr>
            <a:r>
              <a:t>  - COVERED by a peritoneal sac.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'Strawberry' Signs in Clinical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Strawberry Tongue: Kawasaki Disease, Scarlet Fever (also 'sandpaper rash', whitish tongue).</a:t>
            </a:r>
          </a:p>
          <a:p>
            <a:pPr>
              <a:defRPr sz="2000"/>
            </a:pPr>
            <a:r>
              <a:t>Strawberry Vagina: Trichomoniasis (recent NEET PG question).</a:t>
            </a:r>
          </a:p>
          <a:p>
            <a:pPr>
              <a:defRPr sz="2000"/>
            </a:pPr>
            <a:r>
              <a:t>Strawberry Gingiva: Wegener's Granulomatosis (a small vessel vasculitis).</a:t>
            </a:r>
          </a:p>
          <a:p>
            <a:pPr>
              <a:defRPr sz="2000"/>
            </a:pPr>
            <a:r>
              <a:t>Strawberry Skull: Antenatal ultrasound in Down Syndrome (Trisomy 21).</a:t>
            </a:r>
          </a:p>
          <a:p>
            <a:pPr>
              <a:defRPr sz="2000"/>
            </a:pPr>
            <a:r>
              <a:t>Strawberry Gallbladder: Cholesterolosis.</a:t>
            </a:r>
          </a:p>
          <a:p>
            <a:pPr>
              <a:defRPr sz="2000"/>
            </a:pPr>
            <a:r>
              <a:t>Strawberry Scrotum: Multiple sebaceous cysts.</a:t>
            </a:r>
          </a:p>
          <a:p>
            <a:pPr>
              <a:defRPr sz="2000"/>
            </a:pPr>
            <a:r>
              <a:t>Vasculitis Types:</a:t>
            </a:r>
          </a:p>
          <a:p>
            <a:pPr>
              <a:defRPr sz="2000"/>
            </a:pPr>
            <a:r>
              <a:t>  - Small vessel: Churg-Strauss Syndrome, Behcet's Syndrome, Wegener's Granulomatosis.</a:t>
            </a:r>
          </a:p>
          <a:p>
            <a:pPr>
              <a:defRPr sz="2000"/>
            </a:pPr>
            <a:r>
              <a:t>  - Medium vessel: Kawasaki Disease.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">
      <a:majorFont>
        <a:latin typeface="Bobby Jones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33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Gotham</vt:lpstr>
      <vt:lpstr>Bobby Jones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sem 5</dc:title>
  <cp:lastModifiedBy>BG Bhimani</cp:lastModifiedBy>
  <cp:revision>28</cp:revision>
  <dcterms:created xsi:type="dcterms:W3CDTF">2006-08-16T00:00:00Z</dcterms:created>
  <dcterms:modified xsi:type="dcterms:W3CDTF">2026-05-07T18:00:37Z</dcterms:modified>
  <dc:identifier>DAG__ds8C4w</dc:identifier>
</cp:coreProperties>
</file>